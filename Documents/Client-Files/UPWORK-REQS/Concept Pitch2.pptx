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2" r:id="rId5"/>
    <p:sldId id="257" r:id="rId6"/>
    <p:sldId id="261" r:id="rId7"/>
    <p:sldId id="260" r:id="rId8"/>
    <p:sldId id="263" r:id="rId9"/>
    <p:sldId id="264" r:id="rId10"/>
    <p:sldId id="266" r:id="rId11"/>
    <p:sldId id="265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BA2A"/>
    <a:srgbClr val="F64D2A"/>
    <a:srgbClr val="2D96EC"/>
    <a:srgbClr val="9BBA53"/>
    <a:srgbClr val="99D966"/>
    <a:srgbClr val="99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92" d="100"/>
          <a:sy n="92" d="100"/>
        </p:scale>
        <p:origin x="135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3A474-557C-4F95-9C7F-CBEF94BCEF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994D41-B21C-4BFF-949E-07E3C42FBD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1AF548-752D-4BE7-A1ED-B54931EF5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36F3B-2BBB-4F6A-855C-6ABC42992E64}" type="datetimeFigureOut">
              <a:rPr lang="en-CA" smtClean="0"/>
              <a:t>2021-03-24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1A5294-D7B5-4D4E-8876-3CC370F81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A5D22C-5263-48DC-A9C2-BB06200B7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875A8-E33E-4B4D-B2F5-50DDCA40001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644056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C85F8-B0DD-4C98-8CEA-37BD5D762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A0608-2612-47C3-B589-4F41CA95E1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0B533C-1D99-401B-BEF7-EA6CE8498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36F3B-2BBB-4F6A-855C-6ABC42992E64}" type="datetimeFigureOut">
              <a:rPr lang="en-CA" smtClean="0"/>
              <a:t>2021-03-24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6AD6C0-63DF-4862-B0B1-AD91FB884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03C76B-246A-4B62-916F-9D1440DF1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875A8-E33E-4B4D-B2F5-50DDCA40001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98830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F5A73-B5A1-49FE-A410-35F43815B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257B56-1635-4FF4-BA9F-A54912AD42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FFB6B9-BC08-4A89-89CA-7A531C84F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36F3B-2BBB-4F6A-855C-6ABC42992E64}" type="datetimeFigureOut">
              <a:rPr lang="en-CA" smtClean="0"/>
              <a:t>2021-03-24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D0B927-E95F-45B1-896D-9C564090B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F5D203-457E-491B-97FA-EC179A96E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875A8-E33E-4B4D-B2F5-50DDCA40001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770989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78394-5307-4EE4-8827-5FF872348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3E0AED-E0C6-483A-B14A-D8133D2798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9C85B1-4A18-4DD0-9D81-448B01EDEE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E4E440-F567-41B3-8E52-46DF0A7F8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36F3B-2BBB-4F6A-855C-6ABC42992E64}" type="datetimeFigureOut">
              <a:rPr lang="en-CA" smtClean="0"/>
              <a:t>2021-03-24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ED6868-520C-45D4-940D-0FA74156E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D68A7A-22D3-44C5-A0D4-76EC24456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875A8-E33E-4B4D-B2F5-50DDCA40001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98266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D8DD4-8A82-47F3-B51A-737A21FDC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696F4A-2C30-4D45-AD6E-5170C90719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71EAAF-E7D1-46A7-9827-1E9D1AAAF2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285101-D77D-480C-B152-7B5595539D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9A76C1-EF1A-4A99-A8D5-861CCD1747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772EE7-4A91-42B4-AD9A-DA4182D81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36F3B-2BBB-4F6A-855C-6ABC42992E64}" type="datetimeFigureOut">
              <a:rPr lang="en-CA" smtClean="0"/>
              <a:t>2021-03-24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8D0519-4BB4-450E-81D0-91C2346A6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4DBBFB-FC53-4D31-B832-510EEDA07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875A8-E33E-4B4D-B2F5-50DDCA40001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66377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20AAE-6119-44A1-AD9D-AB4486BF2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B7BB3B-BD72-43B1-82BD-B4195B0BF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36F3B-2BBB-4F6A-855C-6ABC42992E64}" type="datetimeFigureOut">
              <a:rPr lang="en-CA" smtClean="0"/>
              <a:t>2021-03-24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BE938F-B1D6-4D89-B306-52F892EC7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865C2C-F87F-439E-A823-DFCCECBD4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875A8-E33E-4B4D-B2F5-50DDCA40001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403488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F9B780-1E55-4B84-B83C-5C775DA8F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36F3B-2BBB-4F6A-855C-6ABC42992E64}" type="datetimeFigureOut">
              <a:rPr lang="en-CA" smtClean="0"/>
              <a:t>2021-03-24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B8519F-4FAC-451B-938B-02C904DC9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3540AD-39D3-4B0C-A79E-89F084301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875A8-E33E-4B4D-B2F5-50DDCA40001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213235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7144C-1045-443A-8142-137606048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7F36B6-A789-4A1D-A8B9-2A1E6E7814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B92FDF-D059-4028-BEBB-1C5E9F9B17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14AC31-E242-4253-9715-93C3172E5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36F3B-2BBB-4F6A-855C-6ABC42992E64}" type="datetimeFigureOut">
              <a:rPr lang="en-CA" smtClean="0"/>
              <a:t>2021-03-24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F851A1-ED5A-41CF-A69D-3451B9C21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D448A9-3D24-411C-823E-D57C30E05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875A8-E33E-4B4D-B2F5-50DDCA40001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05495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471DC-10B9-43C8-ACBA-1BE38CB91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B06E6B-6BB3-438C-A135-DB331B1496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A52997-C31F-4589-B690-B64E7EBDB9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5DF051-6EFD-4A14-A475-3084F26C2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36F3B-2BBB-4F6A-855C-6ABC42992E64}" type="datetimeFigureOut">
              <a:rPr lang="en-CA" smtClean="0"/>
              <a:t>2021-03-24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009181-B938-4FBA-A040-C347F8625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69A124-2E96-4AC9-8EB1-7BB74E65E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875A8-E33E-4B4D-B2F5-50DDCA40001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782505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452A6-3A99-4966-9619-804787F56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4F4DF1-D340-4B66-A530-2C62A72BE7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CF288E-0BDB-49A8-9A7B-44EB5F413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36F3B-2BBB-4F6A-855C-6ABC42992E64}" type="datetimeFigureOut">
              <a:rPr lang="en-CA" smtClean="0"/>
              <a:t>2021-03-24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108F1D-498F-4B9B-BFED-4BEE317CB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9236F3-4797-45E0-A7AB-1E98E3975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875A8-E33E-4B4D-B2F5-50DDCA40001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517889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14F3C9-DEEB-407A-8E2C-DBA5C3D89B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EAF65B-E135-4D81-AFBD-2B63752F35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648CB3-2553-4F90-BFBC-0257D9146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36F3B-2BBB-4F6A-855C-6ABC42992E64}" type="datetimeFigureOut">
              <a:rPr lang="en-CA" smtClean="0"/>
              <a:t>2021-03-24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0FAE22-EE78-4BD8-8D54-F5E2AA9F4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845617-F156-42B6-93FC-56CEAF1F0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875A8-E33E-4B4D-B2F5-50DDCA40001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81788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627E5F-BA1A-4F5B-A689-E021AD92E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8FADA8-8C75-4C5C-8EE5-123A04F249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EEEB7-BCD7-474B-A74A-0941B9EE11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E36F3B-2BBB-4F6A-855C-6ABC42992E64}" type="datetimeFigureOut">
              <a:rPr lang="en-CA" smtClean="0"/>
              <a:t>2021-03-24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9B3CD6-1331-41A4-9274-67435BB3B4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EEC2C8-CC3E-492C-BE48-A47430F9CB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0875A8-E33E-4B4D-B2F5-50DDCA40001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36609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fif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jpe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JPG"/><Relationship Id="rId3" Type="http://schemas.openxmlformats.org/officeDocument/2006/relationships/image" Target="../media/image21.JP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JPG"/><Relationship Id="rId9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C559C-A32C-4128-A905-09FBD0AF42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      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BACB2E-6B0F-495C-BB07-3B529A0292D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5" name="Picture 4" descr="A picture containing drawing&#10;&#10;Description automatically generated">
            <a:extLst>
              <a:ext uri="{FF2B5EF4-FFF2-40B4-BE49-F238E27FC236}">
                <a16:creationId xmlns:a16="http://schemas.microsoft.com/office/drawing/2014/main" id="{4C210D89-42B3-41B4-AD1D-35624DF22A7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96" b="12393"/>
          <a:stretch/>
        </p:blipFill>
        <p:spPr>
          <a:xfrm>
            <a:off x="-21432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D8F9477-1F04-4930-9B1C-427971665906}"/>
              </a:ext>
            </a:extLst>
          </p:cNvPr>
          <p:cNvSpPr txBox="1"/>
          <p:nvPr/>
        </p:nvSpPr>
        <p:spPr>
          <a:xfrm>
            <a:off x="3250135" y="5257800"/>
            <a:ext cx="461248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000" b="1" spc="-150" dirty="0">
                <a:latin typeface="Kelson" panose="02000506000000020004" pitchFamily="50" charset="0"/>
              </a:rPr>
              <a:t>A whole new way to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F0CFB8-4582-4D23-BCA7-13A7F750C8E9}"/>
              </a:ext>
            </a:extLst>
          </p:cNvPr>
          <p:cNvSpPr txBox="1"/>
          <p:nvPr/>
        </p:nvSpPr>
        <p:spPr>
          <a:xfrm>
            <a:off x="7795938" y="5257800"/>
            <a:ext cx="84029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000" b="1" spc="-300" dirty="0">
                <a:latin typeface="Kelson" panose="02000506000000020004" pitchFamily="50" charset="0"/>
              </a:rPr>
              <a:t>har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6EA567-40ED-4A6E-A977-7DEBE181A043}"/>
              </a:ext>
            </a:extLst>
          </p:cNvPr>
          <p:cNvSpPr txBox="1"/>
          <p:nvPr/>
        </p:nvSpPr>
        <p:spPr>
          <a:xfrm>
            <a:off x="8464524" y="5276056"/>
            <a:ext cx="8402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000" b="1" spc="-150" dirty="0"/>
              <a:t>ge.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C20D76-3798-41B4-8967-AAA781947CB2}"/>
              </a:ext>
            </a:extLst>
          </p:cNvPr>
          <p:cNvSpPr txBox="1"/>
          <p:nvPr/>
        </p:nvSpPr>
        <p:spPr>
          <a:xfrm>
            <a:off x="7588250" y="5276056"/>
            <a:ext cx="4667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000" b="1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9283268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5707827-D68C-4913-8667-A1C2DD3A15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3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5059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 up of a map&#10;&#10;Description automatically generated">
            <a:extLst>
              <a:ext uri="{FF2B5EF4-FFF2-40B4-BE49-F238E27FC236}">
                <a16:creationId xmlns:a16="http://schemas.microsoft.com/office/drawing/2014/main" id="{099B12EA-D0BC-40B4-B48A-DDA25EFF5A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8254" y="0"/>
            <a:ext cx="86554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7545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180D1-D16C-47CF-95CD-6339FF890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998" y="1242880"/>
            <a:ext cx="4093367" cy="1325563"/>
          </a:xfrm>
        </p:spPr>
        <p:txBody>
          <a:bodyPr>
            <a:noAutofit/>
          </a:bodyPr>
          <a:lstStyle/>
          <a:p>
            <a:r>
              <a:rPr lang="en-CA" sz="6000" b="1" dirty="0">
                <a:latin typeface="Avenir Next LT Pro" panose="020B0504020202020204" pitchFamily="34" charset="0"/>
              </a:rPr>
              <a:t>250 cycles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B3F6C6BB-AF86-48E2-A358-DDDBDE5BE3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95062">
            <a:off x="4188358" y="2615727"/>
            <a:ext cx="2679385" cy="2034966"/>
          </a:xfr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CD047BA0-5378-4F0E-9765-178B105AFAF6}"/>
              </a:ext>
            </a:extLst>
          </p:cNvPr>
          <p:cNvSpPr txBox="1">
            <a:spLocks/>
          </p:cNvSpPr>
          <p:nvPr/>
        </p:nvSpPr>
        <p:spPr>
          <a:xfrm>
            <a:off x="6867418" y="3429000"/>
            <a:ext cx="548435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6000" b="1" dirty="0">
                <a:latin typeface="Avenir Next LT Pro" panose="020B0504020202020204" pitchFamily="34" charset="0"/>
              </a:rPr>
              <a:t>~73% battery</a:t>
            </a:r>
          </a:p>
        </p:txBody>
      </p:sp>
      <p:sp>
        <p:nvSpPr>
          <p:cNvPr id="11" name="Arrow: Circular 10">
            <a:extLst>
              <a:ext uri="{FF2B5EF4-FFF2-40B4-BE49-F238E27FC236}">
                <a16:creationId xmlns:a16="http://schemas.microsoft.com/office/drawing/2014/main" id="{EAFF5294-DA92-4E99-8910-6710582E13EA}"/>
              </a:ext>
            </a:extLst>
          </p:cNvPr>
          <p:cNvSpPr/>
          <p:nvPr/>
        </p:nvSpPr>
        <p:spPr>
          <a:xfrm rot="10800000">
            <a:off x="812340" y="1423304"/>
            <a:ext cx="2473687" cy="2125980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12" name="Arrow: Circular 11">
            <a:extLst>
              <a:ext uri="{FF2B5EF4-FFF2-40B4-BE49-F238E27FC236}">
                <a16:creationId xmlns:a16="http://schemas.microsoft.com/office/drawing/2014/main" id="{6D3BB16D-1178-4311-A117-73CB67948710}"/>
              </a:ext>
            </a:extLst>
          </p:cNvPr>
          <p:cNvSpPr/>
          <p:nvPr/>
        </p:nvSpPr>
        <p:spPr>
          <a:xfrm rot="170879">
            <a:off x="761051" y="179890"/>
            <a:ext cx="2473687" cy="2125980"/>
          </a:xfrm>
          <a:prstGeom prst="circular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accent6"/>
              </a:solidFill>
            </a:endParaRPr>
          </a:p>
        </p:txBody>
      </p:sp>
      <p:pic>
        <p:nvPicPr>
          <p:cNvPr id="16" name="Picture 15" descr="A close up of a logo&#10;&#10;Description automatically generated">
            <a:extLst>
              <a:ext uri="{FF2B5EF4-FFF2-40B4-BE49-F238E27FC236}">
                <a16:creationId xmlns:a16="http://schemas.microsoft.com/office/drawing/2014/main" id="{157B5403-BB9C-498D-A9DC-985BBEF39C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0074" y="3633210"/>
            <a:ext cx="3679043" cy="3679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5444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4" descr="A picture containing meter, light&#10;&#10;Description automatically generated">
            <a:extLst>
              <a:ext uri="{FF2B5EF4-FFF2-40B4-BE49-F238E27FC236}">
                <a16:creationId xmlns:a16="http://schemas.microsoft.com/office/drawing/2014/main" id="{A6E882AC-DEC6-4993-946F-561A9F6EDC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1999" cy="6858000"/>
          </a:xfrm>
          <a:prstGeom prst="rect">
            <a:avLst/>
          </a:prstGeom>
        </p:spPr>
      </p:pic>
      <p:pic>
        <p:nvPicPr>
          <p:cNvPr id="5" name="Content Placeholder 4" descr="A picture containing meter, light&#10;&#10;Description automatically generated">
            <a:extLst>
              <a:ext uri="{FF2B5EF4-FFF2-40B4-BE49-F238E27FC236}">
                <a16:creationId xmlns:a16="http://schemas.microsoft.com/office/drawing/2014/main" id="{9F83D827-73FD-4053-90BA-6D64E85F3F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903" y="190041"/>
            <a:ext cx="10576193" cy="6477918"/>
          </a:xfrm>
        </p:spPr>
      </p:pic>
    </p:spTree>
    <p:extLst>
      <p:ext uri="{BB962C8B-B14F-4D97-AF65-F5344CB8AC3E}">
        <p14:creationId xmlns:p14="http://schemas.microsoft.com/office/powerpoint/2010/main" val="2840889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3F5EA9E-0B33-4A4F-B1B2-C610497E321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508" r="7888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6C52DFC-83D3-48FD-9418-51E8B040D6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030" y="1019817"/>
            <a:ext cx="7316943" cy="64000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A448135-F190-4F75-80A8-315331DE6778}"/>
              </a:ext>
            </a:extLst>
          </p:cNvPr>
          <p:cNvSpPr txBox="1"/>
          <p:nvPr/>
        </p:nvSpPr>
        <p:spPr>
          <a:xfrm>
            <a:off x="8577003" y="957347"/>
            <a:ext cx="326980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solidFill>
                  <a:srgbClr val="9BBA53"/>
                </a:solidFill>
                <a:latin typeface="Kelson" panose="02000506000000020004" pitchFamily="50" charset="0"/>
              </a:rPr>
              <a:t>7.7 out of 10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829C65-2776-4C27-A9E9-56AAE7A35624}"/>
              </a:ext>
            </a:extLst>
          </p:cNvPr>
          <p:cNvSpPr txBox="1"/>
          <p:nvPr/>
        </p:nvSpPr>
        <p:spPr>
          <a:xfrm>
            <a:off x="2913172" y="2185288"/>
            <a:ext cx="6958700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000" b="1" dirty="0">
                <a:latin typeface="Avenir Next LT Pro" panose="020B0504020202020204" pitchFamily="34" charset="0"/>
              </a:rPr>
              <a:t>Report </a:t>
            </a:r>
            <a:r>
              <a:rPr lang="en-CA" sz="4000" b="1" dirty="0">
                <a:solidFill>
                  <a:srgbClr val="C00000"/>
                </a:solidFill>
                <a:latin typeface="Avenir Next LT Pro" panose="020B0504020202020204" pitchFamily="34" charset="0"/>
              </a:rPr>
              <a:t>low battery </a:t>
            </a:r>
            <a:r>
              <a:rPr lang="en-CA" sz="4000" b="1" dirty="0">
                <a:latin typeface="Avenir Next LT Pro" panose="020B0504020202020204" pitchFamily="34" charset="0"/>
              </a:rPr>
              <a:t>anxiety,</a:t>
            </a:r>
          </a:p>
          <a:p>
            <a:pPr algn="ctr"/>
            <a:r>
              <a:rPr lang="en-CA" sz="4000" b="1" dirty="0">
                <a:latin typeface="Avenir Next LT Pro" panose="020B0504020202020204" pitchFamily="34" charset="0"/>
              </a:rPr>
              <a:t>BUT</a:t>
            </a:r>
          </a:p>
        </p:txBody>
      </p:sp>
      <p:pic>
        <p:nvPicPr>
          <p:cNvPr id="10" name="Picture 9" descr="A picture containing drawing&#10;&#10;Description automatically generated">
            <a:extLst>
              <a:ext uri="{FF2B5EF4-FFF2-40B4-BE49-F238E27FC236}">
                <a16:creationId xmlns:a16="http://schemas.microsoft.com/office/drawing/2014/main" id="{CED7E143-72AB-4AC6-B9CC-271836D3BE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123" y="3838861"/>
            <a:ext cx="4816099" cy="2436232"/>
          </a:xfrm>
          <a:prstGeom prst="rect">
            <a:avLst/>
          </a:prstGeom>
        </p:spPr>
      </p:pic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B9D03567-B903-44FA-B8F4-9A4B8EC33E33}"/>
              </a:ext>
            </a:extLst>
          </p:cNvPr>
          <p:cNvSpPr/>
          <p:nvPr/>
        </p:nvSpPr>
        <p:spPr>
          <a:xfrm>
            <a:off x="5826345" y="3838861"/>
            <a:ext cx="825190" cy="802888"/>
          </a:xfrm>
          <a:prstGeom prst="flowChartConnector">
            <a:avLst/>
          </a:prstGeom>
          <a:solidFill>
            <a:srgbClr val="2D96EC"/>
          </a:solidFill>
          <a:ln w="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94836CB0-4270-4BAA-81F0-B26278691134}"/>
              </a:ext>
            </a:extLst>
          </p:cNvPr>
          <p:cNvSpPr/>
          <p:nvPr/>
        </p:nvSpPr>
        <p:spPr>
          <a:xfrm>
            <a:off x="5826345" y="4752743"/>
            <a:ext cx="825190" cy="802888"/>
          </a:xfrm>
          <a:prstGeom prst="flowChartConnector">
            <a:avLst/>
          </a:prstGeom>
          <a:solidFill>
            <a:srgbClr val="F64D2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" name="Flowchart: Connector 13">
            <a:extLst>
              <a:ext uri="{FF2B5EF4-FFF2-40B4-BE49-F238E27FC236}">
                <a16:creationId xmlns:a16="http://schemas.microsoft.com/office/drawing/2014/main" id="{9F146C9D-8920-485B-B7E2-8377E7EF8A57}"/>
              </a:ext>
            </a:extLst>
          </p:cNvPr>
          <p:cNvSpPr/>
          <p:nvPr/>
        </p:nvSpPr>
        <p:spPr>
          <a:xfrm>
            <a:off x="5826345" y="5666625"/>
            <a:ext cx="825190" cy="802888"/>
          </a:xfrm>
          <a:prstGeom prst="flowChartConnector">
            <a:avLst/>
          </a:prstGeom>
          <a:solidFill>
            <a:srgbClr val="F6BA2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C04A218-BCAA-4C4C-8436-41DB8B0A1A02}"/>
              </a:ext>
            </a:extLst>
          </p:cNvPr>
          <p:cNvSpPr txBox="1"/>
          <p:nvPr/>
        </p:nvSpPr>
        <p:spPr>
          <a:xfrm>
            <a:off x="5867685" y="3978695"/>
            <a:ext cx="8354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b="1" dirty="0">
                <a:solidFill>
                  <a:schemeClr val="bg1"/>
                </a:solidFill>
                <a:latin typeface="Kelson" panose="02000506000000020004" pitchFamily="50" charset="0"/>
              </a:rPr>
              <a:t>72%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3167B86-C855-4809-9A2C-3224937ED6C9}"/>
              </a:ext>
            </a:extLst>
          </p:cNvPr>
          <p:cNvSpPr/>
          <p:nvPr/>
        </p:nvSpPr>
        <p:spPr>
          <a:xfrm>
            <a:off x="5876921" y="4887578"/>
            <a:ext cx="84350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sz="2800" b="1" dirty="0">
                <a:solidFill>
                  <a:schemeClr val="bg1"/>
                </a:solidFill>
                <a:latin typeface="Kelson" panose="02000506000000020004" pitchFamily="50" charset="0"/>
              </a:rPr>
              <a:t>18%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CA4A0D7-89E6-4F11-A102-C1A1C7CB631D}"/>
              </a:ext>
            </a:extLst>
          </p:cNvPr>
          <p:cNvSpPr/>
          <p:nvPr/>
        </p:nvSpPr>
        <p:spPr>
          <a:xfrm>
            <a:off x="5848831" y="5778534"/>
            <a:ext cx="84510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sz="2800" b="1" dirty="0">
                <a:solidFill>
                  <a:schemeClr val="bg1"/>
                </a:solidFill>
                <a:latin typeface="Kelson" panose="02000506000000020004" pitchFamily="50" charset="0"/>
              </a:rPr>
              <a:t>10%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4DFFE8F-B9C6-447A-8300-7F6DE264B6AB}"/>
              </a:ext>
            </a:extLst>
          </p:cNvPr>
          <p:cNvSpPr txBox="1"/>
          <p:nvPr/>
        </p:nvSpPr>
        <p:spPr>
          <a:xfrm>
            <a:off x="7064882" y="3947917"/>
            <a:ext cx="34391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 b="1" u="sng" dirty="0">
                <a:latin typeface="Avenir Next LT Pro" panose="020B0504020202020204" pitchFamily="34" charset="0"/>
              </a:rPr>
              <a:t>Carry no backup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E886D71-7745-4CBF-A772-806640CE4EAC}"/>
              </a:ext>
            </a:extLst>
          </p:cNvPr>
          <p:cNvSpPr txBox="1"/>
          <p:nvPr/>
        </p:nvSpPr>
        <p:spPr>
          <a:xfrm>
            <a:off x="7064882" y="4856800"/>
            <a:ext cx="46325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 b="1" dirty="0">
                <a:latin typeface="Avenir Next LT Pro" panose="020B0504020202020204" pitchFamily="34" charset="0"/>
              </a:rPr>
              <a:t>Carry a charging cable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F8B9CF3-73C5-4A08-9E9A-7F37C3026B91}"/>
              </a:ext>
            </a:extLst>
          </p:cNvPr>
          <p:cNvSpPr txBox="1"/>
          <p:nvPr/>
        </p:nvSpPr>
        <p:spPr>
          <a:xfrm>
            <a:off x="7075503" y="5747756"/>
            <a:ext cx="502509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 b="1" dirty="0">
                <a:latin typeface="Avenir Next LT Pro" panose="020B0504020202020204" pitchFamily="34" charset="0"/>
              </a:rPr>
              <a:t>Carry a portable charger</a:t>
            </a:r>
          </a:p>
        </p:txBody>
      </p:sp>
    </p:spTree>
    <p:extLst>
      <p:ext uri="{BB962C8B-B14F-4D97-AF65-F5344CB8AC3E}">
        <p14:creationId xmlns:p14="http://schemas.microsoft.com/office/powerpoint/2010/main" val="16982025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logo&#10;&#10;Description automatically generated">
            <a:extLst>
              <a:ext uri="{FF2B5EF4-FFF2-40B4-BE49-F238E27FC236}">
                <a16:creationId xmlns:a16="http://schemas.microsoft.com/office/drawing/2014/main" id="{721B48CB-4AC4-41A2-AF9A-E608D8766DD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7653"/>
          <a:stretch/>
        </p:blipFill>
        <p:spPr>
          <a:xfrm>
            <a:off x="0" y="0"/>
            <a:ext cx="3701026" cy="6858000"/>
          </a:xfrm>
          <a:prstGeom prst="rect">
            <a:avLst/>
          </a:prstGeom>
        </p:spPr>
      </p:pic>
      <p:pic>
        <p:nvPicPr>
          <p:cNvPr id="10" name="Picture 9" descr="A close up of a logo&#10;&#10;Description automatically generated">
            <a:extLst>
              <a:ext uri="{FF2B5EF4-FFF2-40B4-BE49-F238E27FC236}">
                <a16:creationId xmlns:a16="http://schemas.microsoft.com/office/drawing/2014/main" id="{85DEF5B6-2486-4762-98F8-1CE514E7A35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7653"/>
          <a:stretch/>
        </p:blipFill>
        <p:spPr>
          <a:xfrm rot="5400000">
            <a:off x="6642408" y="-4144538"/>
            <a:ext cx="1405055" cy="969412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C966D81-6B1B-4E6F-9C5E-F82A385C701C}"/>
              </a:ext>
            </a:extLst>
          </p:cNvPr>
          <p:cNvSpPr txBox="1"/>
          <p:nvPr/>
        </p:nvSpPr>
        <p:spPr>
          <a:xfrm>
            <a:off x="235462" y="233498"/>
            <a:ext cx="530305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6000" b="1" dirty="0">
                <a:solidFill>
                  <a:schemeClr val="bg1"/>
                </a:solidFill>
                <a:latin typeface="Avenir Next LT Pro" panose="020B0504020202020204" pitchFamily="34" charset="0"/>
              </a:rPr>
              <a:t>The Problem?</a:t>
            </a:r>
          </a:p>
        </p:txBody>
      </p:sp>
      <p:pic>
        <p:nvPicPr>
          <p:cNvPr id="7" name="Picture 6" descr="A close up of a logo&#10;&#10;Description automatically generated">
            <a:extLst>
              <a:ext uri="{FF2B5EF4-FFF2-40B4-BE49-F238E27FC236}">
                <a16:creationId xmlns:a16="http://schemas.microsoft.com/office/drawing/2014/main" id="{E36C3723-BDD4-4D1F-9546-54ED707391D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411"/>
          <a:stretch/>
        </p:blipFill>
        <p:spPr>
          <a:xfrm>
            <a:off x="3701026" y="1405051"/>
            <a:ext cx="8490974" cy="5452947"/>
          </a:xfrm>
          <a:prstGeom prst="rect">
            <a:avLst/>
          </a:prstGeom>
        </p:spPr>
      </p:pic>
      <p:pic>
        <p:nvPicPr>
          <p:cNvPr id="18" name="Picture 17" descr="A close up of a camera&#10;&#10;Description automatically generated">
            <a:extLst>
              <a:ext uri="{FF2B5EF4-FFF2-40B4-BE49-F238E27FC236}">
                <a16:creationId xmlns:a16="http://schemas.microsoft.com/office/drawing/2014/main" id="{D7C0FC0A-A0E9-4D91-AAD7-DC584AFC27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81666"/>
            <a:ext cx="6072899" cy="3072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6650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018BB012-2DAE-4451-958C-039681A525CD}"/>
              </a:ext>
            </a:extLst>
          </p:cNvPr>
          <p:cNvSpPr txBox="1"/>
          <p:nvPr/>
        </p:nvSpPr>
        <p:spPr>
          <a:xfrm>
            <a:off x="1106622" y="5898603"/>
            <a:ext cx="997875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000" b="1" dirty="0"/>
              <a:t>The worlds first-ever portable charging watch.</a:t>
            </a:r>
          </a:p>
        </p:txBody>
      </p:sp>
      <p:pic>
        <p:nvPicPr>
          <p:cNvPr id="16" name="Picture 15" descr="A picture containing text, drawing&#10;&#10;Description automatically generated">
            <a:extLst>
              <a:ext uri="{FF2B5EF4-FFF2-40B4-BE49-F238E27FC236}">
                <a16:creationId xmlns:a16="http://schemas.microsoft.com/office/drawing/2014/main" id="{A80BE9C4-F44E-4AB0-ACF0-385FF2CCB44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36" r="1625" b="5820"/>
          <a:stretch/>
        </p:blipFill>
        <p:spPr>
          <a:xfrm>
            <a:off x="1106621" y="191483"/>
            <a:ext cx="8948187" cy="570712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8BED1756-FBA1-4EB9-A3BC-C44287C98CD7}"/>
              </a:ext>
            </a:extLst>
          </p:cNvPr>
          <p:cNvSpPr/>
          <p:nvPr/>
        </p:nvSpPr>
        <p:spPr>
          <a:xfrm>
            <a:off x="5860077" y="4116391"/>
            <a:ext cx="5058359" cy="1524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11" name="Picture 10" descr="A close up of a black background&#10;&#10;Description automatically generated">
            <a:extLst>
              <a:ext uri="{FF2B5EF4-FFF2-40B4-BE49-F238E27FC236}">
                <a16:creationId xmlns:a16="http://schemas.microsoft.com/office/drawing/2014/main" id="{57962A45-D758-48B8-9121-27674C10999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09" t="79807"/>
          <a:stretch/>
        </p:blipFill>
        <p:spPr>
          <a:xfrm>
            <a:off x="7387403" y="4398306"/>
            <a:ext cx="4160634" cy="1320665"/>
          </a:xfrm>
          <a:prstGeom prst="rect">
            <a:avLst/>
          </a:prstGeom>
        </p:spPr>
      </p:pic>
      <p:pic>
        <p:nvPicPr>
          <p:cNvPr id="5" name="Picture 4" descr="A picture containing drawing&#10;&#10;Description automatically generated">
            <a:extLst>
              <a:ext uri="{FF2B5EF4-FFF2-40B4-BE49-F238E27FC236}">
                <a16:creationId xmlns:a16="http://schemas.microsoft.com/office/drawing/2014/main" id="{DECAFCED-D278-41E8-B781-AE2931D7460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0476" y="4116391"/>
            <a:ext cx="3054652" cy="2035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62582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indoor, sitting, table, black&#10;&#10;Description automatically generated">
            <a:extLst>
              <a:ext uri="{FF2B5EF4-FFF2-40B4-BE49-F238E27FC236}">
                <a16:creationId xmlns:a16="http://schemas.microsoft.com/office/drawing/2014/main" id="{6EFBB3C0-1DC2-497D-AAD0-D0E6BFE74B9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625"/>
          <a:stretch/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2D24604-45A6-45D8-9BBE-8A87D1F273FF}"/>
              </a:ext>
            </a:extLst>
          </p:cNvPr>
          <p:cNvSpPr txBox="1"/>
          <p:nvPr/>
        </p:nvSpPr>
        <p:spPr>
          <a:xfrm>
            <a:off x="188952" y="169911"/>
            <a:ext cx="1032269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5400" b="1" dirty="0">
                <a:solidFill>
                  <a:schemeClr val="bg1"/>
                </a:solidFill>
                <a:latin typeface="Avenir Next LT Pro" panose="020B0504020202020204" pitchFamily="34" charset="0"/>
              </a:rPr>
              <a:t>Simplicity meets functionality.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F24E4D-357F-49E3-B4B7-C2326E98ABA6}"/>
              </a:ext>
            </a:extLst>
          </p:cNvPr>
          <p:cNvSpPr txBox="1"/>
          <p:nvPr/>
        </p:nvSpPr>
        <p:spPr>
          <a:xfrm>
            <a:off x="372038" y="5863548"/>
            <a:ext cx="874226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000" b="1" u="sng" spc="-300" dirty="0">
                <a:solidFill>
                  <a:schemeClr val="accent5"/>
                </a:solidFill>
                <a:latin typeface="Avenir Next LT Pro" panose="020B0504020202020204" pitchFamily="34" charset="0"/>
              </a:rPr>
              <a:t>Full charge on over 80% of smartphones</a:t>
            </a:r>
            <a:endParaRPr lang="en-CA" sz="4000" u="sng" dirty="0">
              <a:latin typeface="Avenir Next LT Pro" panose="020B05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34885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person looking at the camera&#10;&#10;Description automatically generated">
            <a:extLst>
              <a:ext uri="{FF2B5EF4-FFF2-40B4-BE49-F238E27FC236}">
                <a16:creationId xmlns:a16="http://schemas.microsoft.com/office/drawing/2014/main" id="{9FB42080-7FA3-4009-B48A-4877DC7CA83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" r="-314"/>
          <a:stretch/>
        </p:blipFill>
        <p:spPr>
          <a:xfrm>
            <a:off x="5238103" y="4253120"/>
            <a:ext cx="7006665" cy="2604880"/>
          </a:xfrm>
          <a:prstGeom prst="rect">
            <a:avLst/>
          </a:prstGeom>
        </p:spPr>
      </p:pic>
      <p:pic>
        <p:nvPicPr>
          <p:cNvPr id="7" name="Picture 6" descr="A close up of a measure&#10;&#10;Description automatically generated">
            <a:extLst>
              <a:ext uri="{FF2B5EF4-FFF2-40B4-BE49-F238E27FC236}">
                <a16:creationId xmlns:a16="http://schemas.microsoft.com/office/drawing/2014/main" id="{2BE5DDBC-9CFB-4DE9-9278-9B990AFF01B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6" t="9064" r="177" b="17999"/>
          <a:stretch/>
        </p:blipFill>
        <p:spPr>
          <a:xfrm>
            <a:off x="0" y="4275086"/>
            <a:ext cx="5238103" cy="2582913"/>
          </a:xfrm>
          <a:prstGeom prst="rect">
            <a:avLst/>
          </a:prstGeom>
        </p:spPr>
      </p:pic>
      <p:pic>
        <p:nvPicPr>
          <p:cNvPr id="8" name="Picture 7" descr="A hand holding a cellphone&#10;&#10;Description automatically generated">
            <a:extLst>
              <a:ext uri="{FF2B5EF4-FFF2-40B4-BE49-F238E27FC236}">
                <a16:creationId xmlns:a16="http://schemas.microsoft.com/office/drawing/2014/main" id="{421E1EEB-226C-4E15-AA42-CEE06D8C021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522" y="962176"/>
            <a:ext cx="5243625" cy="3312911"/>
          </a:xfrm>
          <a:prstGeom prst="rect">
            <a:avLst/>
          </a:prstGeom>
        </p:spPr>
      </p:pic>
      <p:pic>
        <p:nvPicPr>
          <p:cNvPr id="1026" name="Picture 2" descr="Image result for graphene battery">
            <a:extLst>
              <a:ext uri="{FF2B5EF4-FFF2-40B4-BE49-F238E27FC236}">
                <a16:creationId xmlns:a16="http://schemas.microsoft.com/office/drawing/2014/main" id="{8E37EE22-9816-47DC-9EC7-B2858786C3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1144" y="504503"/>
            <a:ext cx="6320856" cy="3515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808DBEF-724C-445C-8174-F8A05F0848CF}"/>
              </a:ext>
            </a:extLst>
          </p:cNvPr>
          <p:cNvSpPr txBox="1"/>
          <p:nvPr/>
        </p:nvSpPr>
        <p:spPr>
          <a:xfrm>
            <a:off x="7271657" y="-18717"/>
            <a:ext cx="50847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b="1" dirty="0">
                <a:solidFill>
                  <a:schemeClr val="bg1"/>
                </a:solidFill>
                <a:highlight>
                  <a:srgbClr val="000000"/>
                </a:highlight>
                <a:latin typeface="Avenir Next LT Pro" panose="020B0504020202020204" pitchFamily="34" charset="0"/>
              </a:rPr>
              <a:t>Graphene-enhanced battery</a:t>
            </a:r>
            <a:endParaRPr lang="en-CA" sz="2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41A9B3E-C4C5-486E-8199-BAF9A3B325B0}"/>
              </a:ext>
            </a:extLst>
          </p:cNvPr>
          <p:cNvSpPr txBox="1"/>
          <p:nvPr/>
        </p:nvSpPr>
        <p:spPr>
          <a:xfrm>
            <a:off x="7925490" y="6386168"/>
            <a:ext cx="4430957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b="1" dirty="0">
                <a:solidFill>
                  <a:schemeClr val="bg1"/>
                </a:solidFill>
                <a:highlight>
                  <a:srgbClr val="000000"/>
                </a:highlight>
                <a:latin typeface="Avenir Next LT Pro" panose="020B0504020202020204" pitchFamily="34" charset="0"/>
              </a:rPr>
              <a:t>Ergonomic hinge design</a:t>
            </a:r>
          </a:p>
          <a:p>
            <a:endParaRPr lang="en-CA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3ED02EF-6C5F-405C-A108-B14D08A26FC1}"/>
              </a:ext>
            </a:extLst>
          </p:cNvPr>
          <p:cNvSpPr txBox="1"/>
          <p:nvPr/>
        </p:nvSpPr>
        <p:spPr>
          <a:xfrm>
            <a:off x="-96245" y="4231689"/>
            <a:ext cx="37416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b="1" dirty="0">
                <a:solidFill>
                  <a:schemeClr val="bg1"/>
                </a:solidFill>
                <a:highlight>
                  <a:srgbClr val="000000"/>
                </a:highlight>
                <a:latin typeface="Avenir Next LT Pro" panose="020B0504020202020204" pitchFamily="34" charset="0"/>
              </a:rPr>
              <a:t>MEMS </a:t>
            </a:r>
            <a:r>
              <a:rPr lang="en-CA" sz="2800" b="1" dirty="0" err="1">
                <a:solidFill>
                  <a:schemeClr val="bg1"/>
                </a:solidFill>
                <a:highlight>
                  <a:srgbClr val="000000"/>
                </a:highlight>
                <a:latin typeface="Avenir Next LT Pro" panose="020B0504020202020204" pitchFamily="34" charset="0"/>
              </a:rPr>
              <a:t>MicroSensors</a:t>
            </a:r>
            <a:endParaRPr lang="en-CA" sz="2800" b="1" dirty="0">
              <a:solidFill>
                <a:schemeClr val="bg1"/>
              </a:solidFill>
              <a:highlight>
                <a:srgbClr val="000000"/>
              </a:highlight>
              <a:latin typeface="Avenir Next LT Pro" panose="020B05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D0C9C4-DA74-4F8C-9C7B-19B1D37C34A8}"/>
              </a:ext>
            </a:extLst>
          </p:cNvPr>
          <p:cNvSpPr txBox="1"/>
          <p:nvPr/>
        </p:nvSpPr>
        <p:spPr>
          <a:xfrm>
            <a:off x="-5522" y="150603"/>
            <a:ext cx="4323522" cy="1312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lang="en-CA" sz="2800" b="1" dirty="0">
              <a:solidFill>
                <a:schemeClr val="bg1"/>
              </a:solidFill>
              <a:highlight>
                <a:srgbClr val="000000"/>
              </a:highlight>
              <a:latin typeface="Avenir Next LT Pro" panose="020B05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CA" sz="2800" b="1" dirty="0">
                <a:solidFill>
                  <a:schemeClr val="bg1"/>
                </a:solidFill>
                <a:highlight>
                  <a:srgbClr val="000000"/>
                </a:highlight>
                <a:latin typeface="Avenir Next LT Pro" panose="020B0504020202020204" pitchFamily="34" charset="0"/>
              </a:rPr>
              <a:t>Android/iPhone system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BEFA87-9C0E-4A0C-AEC9-7E8945DCB938}"/>
              </a:ext>
            </a:extLst>
          </p:cNvPr>
          <p:cNvSpPr txBox="1"/>
          <p:nvPr/>
        </p:nvSpPr>
        <p:spPr>
          <a:xfrm>
            <a:off x="-79126" y="3831578"/>
            <a:ext cx="3724546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b="1" dirty="0">
                <a:solidFill>
                  <a:schemeClr val="bg1"/>
                </a:solidFill>
                <a:highlight>
                  <a:srgbClr val="000000"/>
                </a:highlight>
                <a:latin typeface="Avenir Next LT Pro" panose="020B0504020202020204" pitchFamily="34" charset="0"/>
              </a:rPr>
              <a:t>Smart OLED display </a:t>
            </a:r>
          </a:p>
          <a:p>
            <a:endParaRPr lang="en-CA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9EDB8D-EDC6-4A66-8AC3-90B313FE89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87" y="-206107"/>
            <a:ext cx="7006665" cy="1325563"/>
          </a:xfrm>
        </p:spPr>
        <p:txBody>
          <a:bodyPr>
            <a:normAutofit/>
          </a:bodyPr>
          <a:lstStyle/>
          <a:p>
            <a:r>
              <a:rPr lang="en-CA" sz="5000" b="1" dirty="0">
                <a:latin typeface="Avenir Next LT Pro" panose="020B0504020202020204" pitchFamily="34" charset="0"/>
              </a:rPr>
              <a:t>A new way to charge</a:t>
            </a:r>
          </a:p>
        </p:txBody>
      </p:sp>
    </p:spTree>
    <p:extLst>
      <p:ext uri="{BB962C8B-B14F-4D97-AF65-F5344CB8AC3E}">
        <p14:creationId xmlns:p14="http://schemas.microsoft.com/office/powerpoint/2010/main" val="41928853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A close up of a logo&#10;&#10;Description automatically generated">
            <a:extLst>
              <a:ext uri="{FF2B5EF4-FFF2-40B4-BE49-F238E27FC236}">
                <a16:creationId xmlns:a16="http://schemas.microsoft.com/office/drawing/2014/main" id="{42657F64-1D95-4281-84D4-09A87E048CA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65" t="19974" r="8324" b="24218"/>
          <a:stretch/>
        </p:blipFill>
        <p:spPr>
          <a:xfrm>
            <a:off x="2982220" y="5491522"/>
            <a:ext cx="2634400" cy="1176980"/>
          </a:xfrm>
          <a:prstGeom prst="rect">
            <a:avLst/>
          </a:prstGeom>
        </p:spPr>
      </p:pic>
      <p:pic>
        <p:nvPicPr>
          <p:cNvPr id="17" name="Picture 16" descr="A close up of a logo&#10;&#10;Description automatically generated">
            <a:extLst>
              <a:ext uri="{FF2B5EF4-FFF2-40B4-BE49-F238E27FC236}">
                <a16:creationId xmlns:a16="http://schemas.microsoft.com/office/drawing/2014/main" id="{A5CA61C5-A389-4563-B5E4-210E2D048BF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300" b="25534"/>
          <a:stretch/>
        </p:blipFill>
        <p:spPr>
          <a:xfrm>
            <a:off x="160676" y="4110232"/>
            <a:ext cx="1850104" cy="928102"/>
          </a:xfrm>
          <a:prstGeom prst="rect">
            <a:avLst/>
          </a:prstGeom>
        </p:spPr>
      </p:pic>
      <p:pic>
        <p:nvPicPr>
          <p:cNvPr id="23" name="Picture 22" descr="A close up of a logo&#10;&#10;Description automatically generated">
            <a:extLst>
              <a:ext uri="{FF2B5EF4-FFF2-40B4-BE49-F238E27FC236}">
                <a16:creationId xmlns:a16="http://schemas.microsoft.com/office/drawing/2014/main" id="{E900DFDE-B25D-4F9A-AB25-20009570ECF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30" t="28831" r="19403" b="25812"/>
          <a:stretch/>
        </p:blipFill>
        <p:spPr>
          <a:xfrm>
            <a:off x="8421436" y="5323493"/>
            <a:ext cx="3435545" cy="146164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8797426-7234-4C08-B6B0-F5EFDBEB1C2A}"/>
              </a:ext>
            </a:extLst>
          </p:cNvPr>
          <p:cNvSpPr txBox="1"/>
          <p:nvPr/>
        </p:nvSpPr>
        <p:spPr>
          <a:xfrm>
            <a:off x="2174488" y="3781567"/>
            <a:ext cx="81391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b="1" dirty="0">
                <a:latin typeface="Avenir Next LT Pro" panose="020B0504020202020204" pitchFamily="34" charset="0"/>
              </a:rPr>
              <a:t>Unmatched passion, talent, and industry skills</a:t>
            </a:r>
          </a:p>
        </p:txBody>
      </p:sp>
      <p:pic>
        <p:nvPicPr>
          <p:cNvPr id="13" name="Picture 12" descr="A close up of a sign&#10;&#10;Description automatically generated">
            <a:extLst>
              <a:ext uri="{FF2B5EF4-FFF2-40B4-BE49-F238E27FC236}">
                <a16:creationId xmlns:a16="http://schemas.microsoft.com/office/drawing/2014/main" id="{FAB06416-8761-4A8E-8B5C-DB2BFA1666D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4488" y="4519366"/>
            <a:ext cx="1163451" cy="1163451"/>
          </a:xfrm>
          <a:prstGeom prst="rect">
            <a:avLst/>
          </a:prstGeom>
        </p:spPr>
      </p:pic>
      <p:pic>
        <p:nvPicPr>
          <p:cNvPr id="15" name="Picture 14" descr="A picture containing drawing, food&#10;&#10;Description automatically generated">
            <a:extLst>
              <a:ext uri="{FF2B5EF4-FFF2-40B4-BE49-F238E27FC236}">
                <a16:creationId xmlns:a16="http://schemas.microsoft.com/office/drawing/2014/main" id="{7FB287E2-7E24-4141-97D0-46E52450853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769" y="5372480"/>
            <a:ext cx="1183974" cy="1183974"/>
          </a:xfrm>
          <a:prstGeom prst="rect">
            <a:avLst/>
          </a:prstGeom>
        </p:spPr>
      </p:pic>
      <p:pic>
        <p:nvPicPr>
          <p:cNvPr id="19" name="Picture 18" descr="A close up of a sign&#10;&#10;Description automatically generated">
            <a:extLst>
              <a:ext uri="{FF2B5EF4-FFF2-40B4-BE49-F238E27FC236}">
                <a16:creationId xmlns:a16="http://schemas.microsoft.com/office/drawing/2014/main" id="{11932899-ECAB-46A7-976A-51978590754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5749" y="5174507"/>
            <a:ext cx="2106558" cy="1579919"/>
          </a:xfrm>
          <a:prstGeom prst="rect">
            <a:avLst/>
          </a:prstGeom>
        </p:spPr>
      </p:pic>
      <p:pic>
        <p:nvPicPr>
          <p:cNvPr id="25" name="Picture 24" descr="A picture containing drawing&#10;&#10;Description automatically generated">
            <a:extLst>
              <a:ext uri="{FF2B5EF4-FFF2-40B4-BE49-F238E27FC236}">
                <a16:creationId xmlns:a16="http://schemas.microsoft.com/office/drawing/2014/main" id="{DA1CC0A9-06B6-4106-A236-C33B3229AB2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9369" y="4372414"/>
            <a:ext cx="1835434" cy="1119108"/>
          </a:xfrm>
          <a:prstGeom prst="rect">
            <a:avLst/>
          </a:prstGeom>
        </p:spPr>
      </p:pic>
      <p:pic>
        <p:nvPicPr>
          <p:cNvPr id="27" name="Picture 26" descr="A close up of a sign&#10;&#10;Description automatically generated">
            <a:extLst>
              <a:ext uri="{FF2B5EF4-FFF2-40B4-BE49-F238E27FC236}">
                <a16:creationId xmlns:a16="http://schemas.microsoft.com/office/drawing/2014/main" id="{995C7D99-BA8A-4993-9684-95B82ED272F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3878" y="4595403"/>
            <a:ext cx="2986820" cy="701903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DDECF69B-17BE-4BC1-A297-9AE036FD71C4}"/>
              </a:ext>
            </a:extLst>
          </p:cNvPr>
          <p:cNvSpPr txBox="1"/>
          <p:nvPr/>
        </p:nvSpPr>
        <p:spPr>
          <a:xfrm>
            <a:off x="5323106" y="1366478"/>
            <a:ext cx="18419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400" dirty="0">
                <a:latin typeface="Avenir Next LT Pro" panose="020B0504020202020204" pitchFamily="34" charset="0"/>
              </a:rPr>
              <a:t>Brian Periku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6C31319-9F4E-43D5-B7E8-63D3859FA149}"/>
              </a:ext>
            </a:extLst>
          </p:cNvPr>
          <p:cNvSpPr txBox="1"/>
          <p:nvPr/>
        </p:nvSpPr>
        <p:spPr>
          <a:xfrm>
            <a:off x="9107803" y="2065770"/>
            <a:ext cx="20628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400" dirty="0">
                <a:latin typeface="Avenir Next LT Pro" panose="020B0504020202020204" pitchFamily="34" charset="0"/>
              </a:rPr>
              <a:t>Liam Graham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4BB2328-7AA9-48B6-8D25-8497AE49A4F3}"/>
              </a:ext>
            </a:extLst>
          </p:cNvPr>
          <p:cNvSpPr txBox="1"/>
          <p:nvPr/>
        </p:nvSpPr>
        <p:spPr>
          <a:xfrm>
            <a:off x="1272764" y="2065770"/>
            <a:ext cx="23071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400" dirty="0">
                <a:latin typeface="Avenir Next LT Pro" panose="020B0504020202020204" pitchFamily="34" charset="0"/>
              </a:rPr>
              <a:t>Shahkir Alkozai</a:t>
            </a:r>
          </a:p>
        </p:txBody>
      </p:sp>
    </p:spTree>
    <p:extLst>
      <p:ext uri="{BB962C8B-B14F-4D97-AF65-F5344CB8AC3E}">
        <p14:creationId xmlns:p14="http://schemas.microsoft.com/office/powerpoint/2010/main" val="37635287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drawing&#10;&#10;Description automatically generated">
            <a:extLst>
              <a:ext uri="{FF2B5EF4-FFF2-40B4-BE49-F238E27FC236}">
                <a16:creationId xmlns:a16="http://schemas.microsoft.com/office/drawing/2014/main" id="{A2C3F177-6EBF-405F-848D-8A5344E3371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94" b="10225"/>
          <a:stretch/>
        </p:blipFill>
        <p:spPr>
          <a:xfrm>
            <a:off x="444500" y="368300"/>
            <a:ext cx="11303000" cy="64897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5E7534B-196F-412A-8D9B-5C62F870D6AE}"/>
              </a:ext>
            </a:extLst>
          </p:cNvPr>
          <p:cNvSpPr txBox="1"/>
          <p:nvPr/>
        </p:nvSpPr>
        <p:spPr>
          <a:xfrm>
            <a:off x="3189230" y="4076700"/>
            <a:ext cx="771121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 b="1" dirty="0"/>
              <a:t>Redefining portable charging.</a:t>
            </a:r>
          </a:p>
        </p:txBody>
      </p:sp>
    </p:spTree>
    <p:extLst>
      <p:ext uri="{BB962C8B-B14F-4D97-AF65-F5344CB8AC3E}">
        <p14:creationId xmlns:p14="http://schemas.microsoft.com/office/powerpoint/2010/main" val="30448146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560</TotalTime>
  <Words>102</Words>
  <Application>Microsoft Office PowerPoint</Application>
  <PresentationFormat>Widescreen</PresentationFormat>
  <Paragraphs>32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Avenir Next LT Pro</vt:lpstr>
      <vt:lpstr>Calibri</vt:lpstr>
      <vt:lpstr>Calibri Light</vt:lpstr>
      <vt:lpstr>Kelson</vt:lpstr>
      <vt:lpstr>Office Theme</vt:lpstr>
      <vt:lpstr>       </vt:lpstr>
      <vt:lpstr>PowerPoint Presentation</vt:lpstr>
      <vt:lpstr>PowerPoint Presentation</vt:lpstr>
      <vt:lpstr>250 cycles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 new way to charge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Brian Periku</dc:creator>
  <cp:lastModifiedBy>Brian Periku</cp:lastModifiedBy>
  <cp:revision>46</cp:revision>
  <dcterms:created xsi:type="dcterms:W3CDTF">2020-03-01T23:00:51Z</dcterms:created>
  <dcterms:modified xsi:type="dcterms:W3CDTF">2021-03-25T03:42:08Z</dcterms:modified>
</cp:coreProperties>
</file>